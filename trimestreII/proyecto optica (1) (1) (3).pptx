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Work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yTlYUY0m41nhJNtqWMIGy1oWt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0E7A74-DA7D-4C54-8526-F5203903DE24}">
  <a:tblStyle styleId="{0F0E7A74-DA7D-4C54-8526-F5203903DE2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bold.fntdata"/><Relationship Id="rId11" Type="http://schemas.openxmlformats.org/officeDocument/2006/relationships/slide" Target="slides/slide5.xml"/><Relationship Id="rId22" Type="http://schemas.openxmlformats.org/officeDocument/2006/relationships/font" Target="fonts/WorkSans-boldItalic.fntdata"/><Relationship Id="rId10" Type="http://schemas.openxmlformats.org/officeDocument/2006/relationships/slide" Target="slides/slide4.xml"/><Relationship Id="rId21" Type="http://schemas.openxmlformats.org/officeDocument/2006/relationships/font" Target="fonts/Work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WorkSans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5974a1974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2d5974a1974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e239dec49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37e239dec49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644ba0a30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6644ba0a30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cd4bfc4e7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acd4bfc4e7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github.com/LENICITA/OPTICA-BALAMB.git" TargetMode="External"/><Relationship Id="rId5" Type="http://schemas.openxmlformats.org/officeDocument/2006/relationships/hyperlink" Target="https://mosqueralara23.atlassian.net/jira/software/projects/SCRUM/boards/1/backlog?atlOrigin=eyJpIjoiNTVmOGI1NDdlYWFkNDBhNGJlMDEyZjZmNjQxMjkwMjAiLCJwIjoiaiJ9" TargetMode="External"/><Relationship Id="rId6" Type="http://schemas.openxmlformats.org/officeDocument/2006/relationships/hyperlink" Target="https://app.diagrams.net/?title=BPMN_Optica.drawio&amp;lightbox=1&amp;page-id=bpmn1&amp;client=1#" TargetMode="External"/><Relationship Id="rId7" Type="http://schemas.openxmlformats.org/officeDocument/2006/relationships/hyperlink" Target="https://docs.google.com/document/d/1n43vYFybIFVbHR87X63YFq0VixQcvIpy/edit?usp=drive_link&amp;ouid=103196979525007365948&amp;rtpof=true&amp;sd=true" TargetMode="External"/><Relationship Id="rId8" Type="http://schemas.openxmlformats.org/officeDocument/2006/relationships/hyperlink" Target="https://www.figma.com/proto/ZvhyYW6nG8mijuXQCSGZ5Y/BADAMB?node-id=0-1&amp;t=L7sCSM1ogUFHH1IQ-1" TargetMode="Externa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file/d/16ndQlQiU26JgThhXw7l6_hZ4TLUc1m5o/view?usp=drive_link" TargetMode="External"/><Relationship Id="rId10" Type="http://schemas.openxmlformats.org/officeDocument/2006/relationships/hyperlink" Target="https://drive.google.com/file/d/1u9_-KP46fqV2yZOq35o3AdKbYDdeynJz/view?usp=drive_link" TargetMode="External"/><Relationship Id="rId13" Type="http://schemas.openxmlformats.org/officeDocument/2006/relationships/hyperlink" Target="https://drive.google.com/file/d/1JR7vsmwSiyDVkm9pB9kiIdWRo3JgboJ1/view?usp=drive_link" TargetMode="External"/><Relationship Id="rId12" Type="http://schemas.openxmlformats.org/officeDocument/2006/relationships/hyperlink" Target="https://drive.google.com/file/d/10ksJL6W2FGQciyFD4NgRaI30bw0cIZx8/view?usp=drive_link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document/d/1gr8YCIzhLERiNj8vIdt3Edb1wrcl0qRd/edit?usp=drive_link&amp;ouid=103196979525007365948&amp;rtpof=true&amp;sd=true" TargetMode="External"/><Relationship Id="rId9" Type="http://schemas.openxmlformats.org/officeDocument/2006/relationships/hyperlink" Target="https://docs.google.com/spreadsheets/d/1ZZVVz1ih1b3ANMnj9_UxdpAr09zImZiI/edit?usp=drive_link&amp;ouid=103196979525007365948&amp;rtpof=true&amp;sd=true" TargetMode="External"/><Relationship Id="rId5" Type="http://schemas.openxmlformats.org/officeDocument/2006/relationships/hyperlink" Target="https://drive.google.com/file/d/1fgGoXCyWyPCydNtqfzESKpIsTnAyU6In/view?usp=drive_link" TargetMode="External"/><Relationship Id="rId6" Type="http://schemas.openxmlformats.org/officeDocument/2006/relationships/hyperlink" Target="https://docs.google.com/spreadsheets/d/1-7vJMpmb16Q3hv3wgKpIIYQclHbRzk-o/edit?usp=drive_link&amp;ouid=103196979525007365948&amp;rtpof=true&amp;sd=true" TargetMode="External"/><Relationship Id="rId7" Type="http://schemas.openxmlformats.org/officeDocument/2006/relationships/hyperlink" Target="https://docs.google.com/document/d/13mUjXPoxmXUYAoGF-REpCvIEvgmv1p5l/edit?usp=drive_link&amp;ouid=103196979525007365948&amp;rtpof=true&amp;sd=true" TargetMode="External"/><Relationship Id="rId8" Type="http://schemas.openxmlformats.org/officeDocument/2006/relationships/hyperlink" Target="https://drive.google.com/file/d/1e6_o5qnVc3rV0SF9eyerUxqwhFkwNZxs/view?usp=drive_link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1303878" y="2136358"/>
            <a:ext cx="6453678" cy="258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ES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PROYECTO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ES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OPTICA BALAMB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t/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255240" y="3877946"/>
            <a:ext cx="547141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SHARIHT JORLEYNI MOSQUERA LARA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VALENTINA RAMIREZ BERNAL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LAURA SOFIA CABREJO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JUAN SEBASTIAN FORERO GUAYARA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FICHA: 3278645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1850" y="750150"/>
            <a:ext cx="1493276" cy="149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5974a1974_0_11"/>
          <p:cNvSpPr txBox="1"/>
          <p:nvPr/>
        </p:nvSpPr>
        <p:spPr>
          <a:xfrm>
            <a:off x="130565" y="1751617"/>
            <a:ext cx="11931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g2d5974a1974_0_11"/>
          <p:cNvSpPr txBox="1"/>
          <p:nvPr/>
        </p:nvSpPr>
        <p:spPr>
          <a:xfrm>
            <a:off x="562675" y="1593945"/>
            <a:ext cx="111693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Desarrollar un sistema de información para una óptica virtual que permita a los usuarios probar en línea las monturas, gestionar compras, pagos y entregas, y que proporcione al administrador herramientas efectivas para la administración del inventario, la gestión de clientes y repartidores.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239dec49_1_4"/>
          <p:cNvSpPr txBox="1"/>
          <p:nvPr/>
        </p:nvSpPr>
        <p:spPr>
          <a:xfrm>
            <a:off x="130565" y="1751617"/>
            <a:ext cx="11931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g37e239dec49_1_4"/>
          <p:cNvSpPr txBox="1"/>
          <p:nvPr/>
        </p:nvSpPr>
        <p:spPr>
          <a:xfrm>
            <a:off x="757675" y="1899370"/>
            <a:ext cx="111693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un módulo de prueba virtual de monturas mediante cámara o fotografía.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 sistema de visualización de información y cotización de gafas.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Incorporar una plataforma de pagos en línea segura y confiable.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Diseñar un módulo de gestión de inventario en tiempo real.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un sistema de registro</a:t>
            </a:r>
            <a:r>
              <a:rPr lang="es-ES" sz="2000">
                <a:solidFill>
                  <a:schemeClr val="dk1"/>
                </a:solidFill>
              </a:rPr>
              <a:t> de clientes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Generar reportes sobre ventas, inventario y clientes para apoyar la toma de decisiones.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/>
        </p:nvSpPr>
        <p:spPr>
          <a:xfrm>
            <a:off x="130565" y="1751617"/>
            <a:ext cx="1193087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8"/>
          <p:cNvSpPr/>
          <p:nvPr/>
        </p:nvSpPr>
        <p:spPr>
          <a:xfrm flipH="1">
            <a:off x="870011" y="1905505"/>
            <a:ext cx="10451977" cy="2677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Alcance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aplicativo web permitirá: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los clientes: probarse gafas en tiempo real con realidad aumentada, consultar información de productos, generar cotizaciones y realizar pagos seguros en línea.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la empresa: administrar inventario, registrar clientes, generar reportes de ventas y pedidos, y optimizar la logística y atención al cliente.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5"/>
          <p:cNvSpPr txBox="1"/>
          <p:nvPr/>
        </p:nvSpPr>
        <p:spPr>
          <a:xfrm>
            <a:off x="903092" y="1997859"/>
            <a:ext cx="103857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proyecto busca transformar digitalmente el sector óptico, brindando a los usuarios confianza en la compra al poder probarse las gafas de manera virtual y facilitar el proceso de pago en línea. Para la empresa, permitirá una gestión más organizada del inventario y de la base de clientes.</a:t>
            </a:r>
            <a:b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nivel social, contribuye a democratizar el acceso a productos de salud visual mediante el uso de tecnologías innovadoras, promoviendo la digitalización de servicios en un sector tradicionalmente presencial</a:t>
            </a:r>
            <a:r>
              <a:rPr lang="es-ES" sz="2000"/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644ba0a30_0_2"/>
          <p:cNvSpPr txBox="1"/>
          <p:nvPr/>
        </p:nvSpPr>
        <p:spPr>
          <a:xfrm>
            <a:off x="130565" y="1751617"/>
            <a:ext cx="11931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4" name="Google Shape;124;g36644ba0a30_0_2"/>
          <p:cNvGraphicFramePr/>
          <p:nvPr/>
        </p:nvGraphicFramePr>
        <p:xfrm>
          <a:off x="12061435" y="54540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{0F0E7A74-DA7D-4C54-8526-F5203903DE24}</a:tableStyleId>
              </a:tblPr>
              <a:tblGrid>
                <a:gridCol w="208300"/>
                <a:gridCol w="208300"/>
                <a:gridCol w="208300"/>
                <a:gridCol w="2083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" name="Google Shape;125;g36644ba0a30_0_2"/>
          <p:cNvSpPr/>
          <p:nvPr/>
        </p:nvSpPr>
        <p:spPr>
          <a:xfrm flipH="1">
            <a:off x="197137" y="3060721"/>
            <a:ext cx="69060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6644ba0a30_0_2"/>
          <p:cNvSpPr txBox="1"/>
          <p:nvPr/>
        </p:nvSpPr>
        <p:spPr>
          <a:xfrm>
            <a:off x="2656908" y="241350"/>
            <a:ext cx="7023300" cy="7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s-ES" sz="1800">
                <a:solidFill>
                  <a:srgbClr val="222222"/>
                </a:solidFill>
              </a:rPr>
              <a:t> TRIMESTRE 1</a:t>
            </a:r>
            <a:endParaRPr b="1" sz="18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GITHUB</a:t>
            </a:r>
            <a:endParaRPr b="0" i="0" sz="14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https://github.com/LENICITA/OPTICA-BALAMB.git</a:t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JIRA SOFTWARE</a:t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https://mosqueralara23.atlassian.net/jira/software/projects/SCRUM/boards/1/backlog?atlOrigin=eyJpIjoiNTVmOGI1NDdlYWFkNDBhNGJlMDEyZjZmNjQxMjkwMjAiLCJwIjoiaiJ9</a:t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MODELO BPMN</a:t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https://app.diagrams.net/?title=BPMN_Optica.drawio&amp;lightbox=1&amp;page-id=bpmn1&amp;client=1#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>
                <a:solidFill>
                  <a:srgbClr val="222222"/>
                </a:solidFill>
              </a:rPr>
              <a:t>Requerimientos funcionales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 u="sng">
                <a:solidFill>
                  <a:schemeClr val="hlink"/>
                </a:solidFill>
                <a:hlinkClick r:id="rId7"/>
              </a:rPr>
              <a:t>https://docs.google.com/document/d/1n43vYFybIFVbHR87X63YFq0VixQcvIpy/edit?usp=drive_link&amp;ouid=103196979525007365948&amp;rtpof=true&amp;sd=true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>
                <a:solidFill>
                  <a:srgbClr val="222222"/>
                </a:solidFill>
              </a:rPr>
              <a:t>Mockups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1800" u="sng">
                <a:solidFill>
                  <a:schemeClr val="hlink"/>
                </a:solidFill>
                <a:hlinkClick r:id="rId8"/>
              </a:rPr>
              <a:t>https://www.figma.com/proto/ZvhyYW6nG8mijuXQCSGZ5Y/BADAMB?node-id=0-1&amp;t=L7sCSM1ogUFHH1IQ-1</a:t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cd4bfc4e7_1_1"/>
          <p:cNvSpPr txBox="1"/>
          <p:nvPr/>
        </p:nvSpPr>
        <p:spPr>
          <a:xfrm>
            <a:off x="130565" y="1751617"/>
            <a:ext cx="11931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2" name="Google Shape;132;g3acd4bfc4e7_1_1"/>
          <p:cNvGraphicFramePr/>
          <p:nvPr/>
        </p:nvGraphicFramePr>
        <p:xfrm>
          <a:off x="12061435" y="54540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{0F0E7A74-DA7D-4C54-8526-F5203903DE24}</a:tableStyleId>
              </a:tblPr>
              <a:tblGrid>
                <a:gridCol w="208300"/>
                <a:gridCol w="208300"/>
                <a:gridCol w="208300"/>
                <a:gridCol w="2083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g3acd4bfc4e7_1_1"/>
          <p:cNvSpPr/>
          <p:nvPr/>
        </p:nvSpPr>
        <p:spPr>
          <a:xfrm flipH="1">
            <a:off x="197137" y="3060721"/>
            <a:ext cx="69060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acd4bfc4e7_1_1"/>
          <p:cNvSpPr txBox="1"/>
          <p:nvPr/>
        </p:nvSpPr>
        <p:spPr>
          <a:xfrm>
            <a:off x="323250" y="296875"/>
            <a:ext cx="11545500" cy="76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s-ES">
                <a:solidFill>
                  <a:srgbClr val="222222"/>
                </a:solidFill>
              </a:rPr>
              <a:t> TRIMESTRE 2</a:t>
            </a:r>
            <a:endParaRPr b="1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ES">
                <a:solidFill>
                  <a:srgbClr val="222222"/>
                </a:solidFill>
              </a:rPr>
              <a:t>CASOS DE USO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4"/>
              </a:rPr>
              <a:t>https://docs.google.com/document/d/1gr8YCIzhLERiNj8vIdt3Edb1wrcl0qRd/edit?usp=drive_link&amp;ouid=103196979525007365948&amp;rtpof=true&amp;sd=true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5"/>
              </a:rPr>
              <a:t>https://drive.google.com/file/d/1fgGoXCyWyPCydNtqfzESKpIsTnAyU6In/view?usp=drive_link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>
                <a:solidFill>
                  <a:srgbClr val="222222"/>
                </a:solidFill>
              </a:rPr>
              <a:t>COSTOS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6"/>
              </a:rPr>
              <a:t>https://docs.google.com/spreadsheets/d/1-7vJMpmb16Q3hv3wgKpIIYQclHbRzk-o/edit?usp=drive_link&amp;ouid=103196979525007365948&amp;rtpof=true&amp;sd=true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7"/>
              </a:rPr>
              <a:t>https://docs.google.com/document/d/13mUjXPoxmXUYAoGF-REpCvIEvgmv1p5l/edit?usp=drive_link&amp;ouid=103196979525007365948&amp;rtpof=true&amp;sd=true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>
                <a:solidFill>
                  <a:srgbClr val="222222"/>
                </a:solidFill>
              </a:rPr>
              <a:t>MER-</a:t>
            </a:r>
            <a:r>
              <a:rPr b="1" lang="es-ES">
                <a:solidFill>
                  <a:srgbClr val="222222"/>
                </a:solidFill>
              </a:rPr>
              <a:t>NOTACIÓN</a:t>
            </a:r>
            <a:r>
              <a:rPr b="1" lang="es-ES">
                <a:solidFill>
                  <a:srgbClr val="222222"/>
                </a:solidFill>
              </a:rPr>
              <a:t> CROW`S FOOT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8"/>
              </a:rPr>
              <a:t>https://drive.google.com/file/d/1e6_o5qnVc3rV0SF9eyerUxqwhFkwNZxs/view?usp=drive_link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>
                <a:solidFill>
                  <a:srgbClr val="222222"/>
                </a:solidFill>
              </a:rPr>
              <a:t>NORMALIZACIÓN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9"/>
              </a:rPr>
              <a:t>https://docs.google.com/spreadsheets/d/1ZZVVz1ih1b3ANMnj9_UxdpAr09zImZiI/edit?usp=drive_link&amp;ouid=103196979525007365948&amp;rtpof=true&amp;sd=true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>
                <a:solidFill>
                  <a:srgbClr val="222222"/>
                </a:solidFill>
              </a:rPr>
              <a:t>DIAGRAMA CLASES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10"/>
              </a:rPr>
              <a:t>https://drive.google.com/file/d/1u9_-KP46fqV2yZOq35o3AdKbYDdeynJz/view?usp=drive_link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>
                <a:solidFill>
                  <a:srgbClr val="222222"/>
                </a:solidFill>
              </a:rPr>
              <a:t>DIAGRAMA  DESPLIEGUE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11"/>
              </a:rPr>
              <a:t>https://drive.google.com/file/d/16ndQlQiU26JgThhXw7l6_hZ4TLUc1m5o/view?usp=drive_link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>
                <a:solidFill>
                  <a:srgbClr val="222222"/>
                </a:solidFill>
              </a:rPr>
              <a:t>DICCIONARIO DE DATOS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12"/>
              </a:rPr>
              <a:t>https://drive.google.com/file/d/10ksJL6W2FGQciyFD4NgRaI30bw0cIZx8/view?usp=drive_link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u="sng">
                <a:solidFill>
                  <a:schemeClr val="hlink"/>
                </a:solidFill>
                <a:hlinkClick r:id="rId13"/>
              </a:rPr>
              <a:t>https://drive.google.com/file/d/1JR7vsmwSiyDVkm9pB9kiIdWRo3JgboJ1/view?usp=drive_link</a:t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